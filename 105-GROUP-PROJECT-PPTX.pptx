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1.mp4"/><Relationship Id="rId4" Type="http://schemas.openxmlformats.org/officeDocument/2006/relationships/video" Target="../media/media1.mp4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-548640"/>
            <a:ext cx="4389120" cy="4389120"/>
          </a:xfrm>
          <a:prstGeom prst="ellipse">
            <a:avLst/>
          </a:prstGeom>
          <a:solidFill>
            <a:srgbClr val="E7F4ED"/>
          </a:solidFill>
          <a:ln>
            <a:solidFill>
              <a:srgbClr val="E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389120"/>
            <a:ext cx="2834640" cy="2834640"/>
          </a:xfrm>
          <a:prstGeom prst="ellipse">
            <a:avLst/>
          </a:prstGeom>
          <a:solidFill>
            <a:srgbClr val="C2DECF"/>
          </a:solidFill>
          <a:ln>
            <a:solidFill>
              <a:srgbClr val="C2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658368"/>
            <a:ext cx="914400" cy="914400"/>
          </a:xfrm>
          <a:prstGeom prst="round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749808"/>
            <a:ext cx="64008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  <a:defRPr sz="3600" b="1" i="0">
                <a:solidFill>
                  <a:srgbClr val="FFFFFF"/>
                </a:solidFill>
                <a:latin typeface="Aptos"/>
              </a:defRPr>
            </a:pPr>
            <a: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28800"/>
            <a:ext cx="69494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4400" b="1" i="0">
                <a:solidFill>
                  <a:srgbClr val="1F2B39"/>
                </a:solidFill>
                <a:latin typeface="Aptos"/>
              </a:defRPr>
            </a:pPr>
            <a:r>
              <a:t>THRIVE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33472"/>
            <a:ext cx="77724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500" b="1" i="0">
                <a:solidFill>
                  <a:srgbClr val="1B695B"/>
                </a:solidFill>
                <a:latin typeface="Aptos"/>
              </a:defRPr>
            </a:pPr>
            <a:r>
              <a:t>Mental Wellness and Support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401568"/>
            <a:ext cx="70408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0" i="0">
                <a:solidFill>
                  <a:srgbClr val="5D6C74"/>
                </a:solidFill>
                <a:latin typeface="Aptos"/>
              </a:defRPr>
            </a:pPr>
            <a:r>
              <a:t>A student-focused space to check in, understand wellbeing needs,</a:t>
            </a:r>
          </a:p>
          <a:p>
            <a:pPr algn="l">
              <a:spcAft>
                <a:spcPts val="400"/>
              </a:spcAft>
              <a:defRPr sz="1800" b="0" i="0">
                <a:solidFill>
                  <a:srgbClr val="5D6C74"/>
                </a:solidFill>
                <a:latin typeface="Aptos"/>
              </a:defRPr>
            </a:pPr>
            <a:r>
              <a:t>and discover practical support.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681728"/>
            <a:ext cx="6766560" cy="100584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864608"/>
            <a:ext cx="146304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5D6C74"/>
                </a:solidFill>
                <a:latin typeface="Aptos"/>
              </a:defRPr>
            </a:pPr>
            <a:r>
              <a:t>PROJECT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5138928"/>
            <a:ext cx="3474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Dr. Vijendra Singh Bramhe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6053328"/>
            <a:ext cx="7315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5D6C74"/>
                </a:solidFill>
                <a:latin typeface="Aptos"/>
              </a:defRPr>
            </a:pPr>
            <a:r>
              <a:t>VIT Bhopal University  •  Project Exhibition I  •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1920240"/>
            <a:ext cx="2468880" cy="1645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  <a:defRPr sz="2200" b="1" i="0">
                <a:solidFill>
                  <a:srgbClr val="1B695B"/>
                </a:solidFill>
                <a:latin typeface="Aptos"/>
              </a:defRPr>
            </a:pPr>
            <a:r>
              <a:t>WELLBEING</a:t>
            </a:r>
          </a:p>
          <a:p>
            <a:pPr algn="ctr">
              <a:spcAft>
                <a:spcPts val="400"/>
              </a:spcAft>
              <a:defRPr sz="2200" b="1" i="0">
                <a:solidFill>
                  <a:srgbClr val="1B695B"/>
                </a:solidFill>
                <a:latin typeface="Aptos"/>
              </a:defRPr>
            </a:pPr>
            <a:r>
              <a:t>BEGINS WITH</a:t>
            </a:r>
          </a:p>
          <a:p>
            <a:pPr algn="ctr">
              <a:spcAft>
                <a:spcPts val="400"/>
              </a:spcAft>
              <a:defRPr sz="2200" b="1" i="0">
                <a:solidFill>
                  <a:srgbClr val="1B695B"/>
                </a:solidFill>
                <a:latin typeface="Aptos"/>
              </a:defRPr>
            </a:pPr>
            <a:r>
              <a:t>A CHECK-IN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5D6C74"/>
                </a:solidFill>
                <a:latin typeface="Aptos"/>
              </a:defRPr>
            </a:pPr>
            <a:r>
              <a:t>THRIVE  •  Mental Wellness &amp; Support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F2B39"/>
                </a:solidFill>
                <a:latin typeface="Aptos"/>
              </a:defRPr>
            </a:pPr>
            <a:r>
              <a:t>Project team &amp; guidance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13232" cy="50292"/>
          </a:xfrm>
          <a:prstGeom prst="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868680"/>
            <a:ext cx="9692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D6C74"/>
                </a:solidFill>
                <a:latin typeface="Aptos"/>
              </a:defRPr>
            </a:pPr>
            <a:r>
              <a:t>Five-member team • roles reflect project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84048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5D6C74"/>
                </a:solidFill>
                <a:latin typeface="Aptos"/>
              </a:defRPr>
            </a:pPr>
            <a:r>
              <a:t>THRIVE  •  Mental Wellness &amp; Support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80160"/>
            <a:ext cx="3154680" cy="196596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280160"/>
            <a:ext cx="82296" cy="1965960"/>
          </a:xfrm>
          <a:prstGeom prst="round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426463"/>
            <a:ext cx="27889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F2B39"/>
                </a:solidFill>
                <a:latin typeface="Aptos"/>
              </a:defRPr>
            </a:pPr>
            <a:r>
              <a:t>Aviraj Singh Thakur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2770632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25BCE10894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Team lead • frontend • integration • coordination &amp; 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280160"/>
            <a:ext cx="3154680" cy="196596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60520" y="1280160"/>
            <a:ext cx="82296" cy="1965960"/>
          </a:xfrm>
          <a:prstGeom prst="roundRect">
            <a:avLst/>
          </a:prstGeom>
          <a:solidFill>
            <a:srgbClr val="DDB36C"/>
          </a:solidFill>
          <a:ln>
            <a:solidFill>
              <a:srgbClr val="DDB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1426463"/>
            <a:ext cx="27889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F2B39"/>
                </a:solidFill>
                <a:latin typeface="Aptos"/>
              </a:defRPr>
            </a:pPr>
            <a:r>
              <a:t>Avika Panday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1874519"/>
            <a:ext cx="2770632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25BCE10928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UI/UX • frontend interface • content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280160"/>
            <a:ext cx="3154680" cy="196596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1280160"/>
            <a:ext cx="82296" cy="1965960"/>
          </a:xfrm>
          <a:prstGeom prst="roundRect">
            <a:avLst/>
          </a:prstGeom>
          <a:solidFill>
            <a:srgbClr val="C2DECF"/>
          </a:solidFill>
          <a:ln>
            <a:solidFill>
              <a:srgbClr val="C2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1426463"/>
            <a:ext cx="27889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F2B39"/>
                </a:solidFill>
                <a:latin typeface="Aptos"/>
              </a:defRPr>
            </a:pPr>
            <a:r>
              <a:t>Manish Kumar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1874519"/>
            <a:ext cx="2770632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25BCE10933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Backend • database • testing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23160" y="3657600"/>
            <a:ext cx="3154680" cy="196596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423160" y="3657600"/>
            <a:ext cx="82296" cy="1965960"/>
          </a:xfrm>
          <a:prstGeom prst="roundRect">
            <a:avLst/>
          </a:prstGeom>
          <a:solidFill>
            <a:srgbClr val="1B695B"/>
          </a:solidFill>
          <a:ln>
            <a:solidFill>
              <a:srgbClr val="1B6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33472" y="3803904"/>
            <a:ext cx="27889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F2B39"/>
                </a:solidFill>
                <a:latin typeface="Aptos"/>
              </a:defRPr>
            </a:pPr>
            <a:r>
              <a:t>Udit Ravikant Chaubey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33472" y="4251960"/>
            <a:ext cx="2770632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25BCE11330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Feature implementation • check-in scoring logic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97880" y="3657600"/>
            <a:ext cx="3154680" cy="196596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897880" y="3657600"/>
            <a:ext cx="82296" cy="1965960"/>
          </a:xfrm>
          <a:prstGeom prst="roundRect">
            <a:avLst/>
          </a:prstGeom>
          <a:solidFill>
            <a:srgbClr val="BA5951"/>
          </a:solidFill>
          <a:ln>
            <a:solidFill>
              <a:srgbClr val="BA5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08192" y="3803904"/>
            <a:ext cx="27889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F2B39"/>
                </a:solidFill>
                <a:latin typeface="Aptos"/>
              </a:defRPr>
            </a:pPr>
            <a:r>
              <a:t>Aviral Verma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4251960"/>
            <a:ext cx="2770632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25BCE10954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Testing • interface review • documentation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931920"/>
            <a:ext cx="20116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5D6C74"/>
                </a:solidFill>
                <a:latin typeface="Aptos"/>
              </a:defRPr>
            </a:pPr>
            <a:r>
              <a:t>Project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251960"/>
            <a:ext cx="26517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1F2B39"/>
                </a:solidFill>
                <a:latin typeface="Aptos"/>
              </a:defRPr>
            </a:pPr>
            <a:r>
              <a:t>Dr. Vijendra Singh Bramhe</a:t>
            </a:r>
          </a:p>
          <a:p>
            <a:pPr algn="ctr">
              <a:spcAft>
                <a:spcPts val="400"/>
              </a:spcAft>
              <a:defRPr sz="1300" b="1" i="0">
                <a:solidFill>
                  <a:srgbClr val="1F2B39"/>
                </a:solidFill>
                <a:latin typeface="Aptos"/>
              </a:defRPr>
            </a:pPr>
            <a:r>
              <a:t>Assistant Professor •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F2B39"/>
                </a:solidFill>
                <a:latin typeface="Aptos"/>
              </a:defRPr>
            </a:pPr>
            <a:r>
              <a:t>Introduction: why THRIVE?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13232" cy="50292"/>
          </a:xfrm>
          <a:prstGeom prst="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868680"/>
            <a:ext cx="9692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D6C74"/>
                </a:solidFill>
                <a:latin typeface="Aptos"/>
              </a:defRPr>
            </a:pPr>
            <a:r>
              <a:t>A simple digital entry point for everyday student wellbeing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84048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5D6C74"/>
                </a:solidFill>
                <a:latin typeface="Aptos"/>
              </a:defRPr>
            </a:pPr>
            <a:r>
              <a:t>THRIVE  •  Mental Wellness &amp; Support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53312"/>
            <a:ext cx="58521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300" b="1" i="0">
                <a:solidFill>
                  <a:srgbClr val="1F2B39"/>
                </a:solidFill>
                <a:latin typeface="Aptos"/>
              </a:defRPr>
            </a:pPr>
            <a:r>
              <a:t>Student life can bring overlapping pressures.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103120"/>
            <a:ext cx="100584" cy="100584"/>
          </a:xfrm>
          <a:prstGeom prst="ellipse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011680"/>
            <a:ext cx="5449824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1F2B39"/>
                </a:solidFill>
                <a:latin typeface="Aptos"/>
              </a:defRPr>
            </a:pPr>
            <a:r>
              <a:t>Academic workload, deadlines and performance pressure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715768"/>
            <a:ext cx="100584" cy="100584"/>
          </a:xfrm>
          <a:prstGeom prst="ellipse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624328"/>
            <a:ext cx="5449824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1F2B39"/>
                </a:solidFill>
                <a:latin typeface="Aptos"/>
              </a:defRPr>
            </a:pPr>
            <a:r>
              <a:t>Stress, sleep disruption and hard-to-maintain habits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328416"/>
            <a:ext cx="100584" cy="100584"/>
          </a:xfrm>
          <a:prstGeom prst="ellipse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3236976"/>
            <a:ext cx="5449824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1F2B39"/>
                </a:solidFill>
                <a:latin typeface="Aptos"/>
              </a:defRPr>
            </a:pPr>
            <a:r>
              <a:t>Relationships, confidence and changing life circumstances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941064"/>
            <a:ext cx="100584" cy="100584"/>
          </a:xfrm>
          <a:prstGeom prst="ellipse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3849624"/>
            <a:ext cx="5449824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1F2B39"/>
                </a:solidFill>
                <a:latin typeface="Aptos"/>
              </a:defRPr>
            </a:pPr>
            <a:r>
              <a:t>Uncertainty about which practical resource to start with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508760"/>
            <a:ext cx="4297680" cy="132588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0" y="1508760"/>
            <a:ext cx="82296" cy="1325880"/>
          </a:xfrm>
          <a:prstGeom prst="round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68312" y="1655063"/>
            <a:ext cx="39319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F2B39"/>
                </a:solidFill>
                <a:latin typeface="Aptos"/>
              </a:defRPr>
            </a:pPr>
            <a:r>
              <a:t>The THRIVE idea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2103120"/>
            <a:ext cx="3913632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A welcoming platform to check in, see the highest-scoring areas and explore supportive guides.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3108960"/>
            <a:ext cx="4297680" cy="132588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0" y="3108960"/>
            <a:ext cx="82296" cy="1325880"/>
          </a:xfrm>
          <a:prstGeom prst="roundRect">
            <a:avLst/>
          </a:prstGeom>
          <a:solidFill>
            <a:srgbClr val="DDB36C"/>
          </a:solidFill>
          <a:ln>
            <a:solidFill>
              <a:srgbClr val="DDB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68312" y="3255264"/>
            <a:ext cx="39319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F2B39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3703320"/>
            <a:ext cx="3913632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Supportive and educational—not a diagnosis, crisis service or replacement for professional care.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32120"/>
            <a:ext cx="10241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600" b="1" i="0">
                <a:solidFill>
                  <a:srgbClr val="1B695B"/>
                </a:solidFill>
                <a:latin typeface="Aptos"/>
              </a:defRPr>
            </a:pPr>
            <a:r>
              <a:t>Awareness  •  practical self-help  •  resource discovery  •  progress reflection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F2B39"/>
                </a:solidFill>
                <a:latin typeface="Aptos"/>
              </a:defRPr>
            </a:pPr>
            <a:r>
              <a:t>Problem &amp; existing approaches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13232" cy="50292"/>
          </a:xfrm>
          <a:prstGeom prst="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868680"/>
            <a:ext cx="9692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D6C74"/>
                </a:solidFill>
                <a:latin typeface="Aptos"/>
              </a:defRPr>
            </a:pPr>
            <a:r>
              <a:t>THRIVE aims to make the first step toward support easier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84048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5D6C74"/>
                </a:solidFill>
                <a:latin typeface="Aptos"/>
              </a:defRPr>
            </a:pPr>
            <a:r>
              <a:t>THRIVE  •  Mental Wellness &amp; Support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150876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82296" cy="1508760"/>
          </a:xfrm>
          <a:prstGeom prst="round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517904"/>
            <a:ext cx="4754879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F2B39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965960"/>
            <a:ext cx="4736592" cy="8229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Students may know they need support but not know whether to begin with stress, sleep, study pressure, confidence or relationships.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120640" cy="150876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82296" cy="1508760"/>
          </a:xfrm>
          <a:prstGeom prst="roundRect">
            <a:avLst/>
          </a:prstGeom>
          <a:solidFill>
            <a:srgbClr val="DDB36C"/>
          </a:solidFill>
          <a:ln>
            <a:solidFill>
              <a:srgbClr val="DDB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17904"/>
            <a:ext cx="4754879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F2B39"/>
                </a:solidFill>
                <a:latin typeface="Aptos"/>
              </a:defRPr>
            </a:pPr>
            <a:r>
              <a:t>Existing approaches &amp; limits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965960"/>
            <a:ext cx="4736592" cy="8229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Static articles can be hard to navigate; broad apps may feel generic; formal care remains essential but is not the only entry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37560"/>
            <a:ext cx="20116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000" b="1" i="0">
                <a:solidFill>
                  <a:srgbClr val="1F2B39"/>
                </a:solidFill>
                <a:latin typeface="Aptos"/>
              </a:defRPr>
            </a:pPr>
            <a:r>
              <a:t>THRIVE’s role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886200"/>
            <a:ext cx="100584" cy="100584"/>
          </a:xfrm>
          <a:prstGeom prst="ellipse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3794760"/>
            <a:ext cx="10113264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1F2B39"/>
                </a:solidFill>
                <a:latin typeface="Aptos"/>
              </a:defRPr>
            </a:pPr>
            <a:r>
              <a:t>Connect a short self-reflection to curated resources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416552"/>
            <a:ext cx="100584" cy="100584"/>
          </a:xfrm>
          <a:prstGeom prst="ellipse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" y="4325112"/>
            <a:ext cx="10113264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1F2B39"/>
                </a:solidFill>
                <a:latin typeface="Aptos"/>
              </a:defRPr>
            </a:pPr>
            <a:r>
              <a:t>Use transparent category scores instead of opaque AI predictions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946904"/>
            <a:ext cx="100584" cy="100584"/>
          </a:xfrm>
          <a:prstGeom prst="ellipse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" y="4855464"/>
            <a:ext cx="10113264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1F2B39"/>
                </a:solidFill>
                <a:latin typeface="Aptos"/>
              </a:defRPr>
            </a:pPr>
            <a:r>
              <a:t>Bring check-in, resource guides and progress into one 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102412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BA5951"/>
                </a:solidFill>
                <a:latin typeface="Aptos"/>
              </a:defRPr>
            </a:pPr>
            <a:r>
              <a:t>Digital guidance complements professional support; it does not replace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F2B39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13232" cy="50292"/>
          </a:xfrm>
          <a:prstGeom prst="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868680"/>
            <a:ext cx="9692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D6C74"/>
                </a:solidFill>
                <a:latin typeface="Aptos"/>
              </a:defRPr>
            </a:pPr>
            <a:r>
              <a:t>A focused, usable student wellbeing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84048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5D6C74"/>
                </a:solidFill>
                <a:latin typeface="Aptos"/>
              </a:defRPr>
            </a:pPr>
            <a:r>
              <a:t>THRIVE  •  Mental Wellness &amp; Support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17320"/>
            <a:ext cx="512064" cy="512064"/>
          </a:xfrm>
          <a:prstGeom prst="ellipse">
            <a:avLst/>
          </a:prstGeom>
          <a:solidFill>
            <a:srgbClr val="E7F4ED"/>
          </a:solidFill>
          <a:ln>
            <a:solidFill>
              <a:srgbClr val="E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27048"/>
            <a:ext cx="475488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1B695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472184"/>
            <a:ext cx="278892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Accessible resource library</a:t>
            </a:r>
          </a:p>
        </p:txBody>
      </p:sp>
      <p:sp>
        <p:nvSpPr>
          <p:cNvPr id="11" name="Oval 10"/>
          <p:cNvSpPr/>
          <p:nvPr/>
        </p:nvSpPr>
        <p:spPr>
          <a:xfrm>
            <a:off x="4526279" y="1417320"/>
            <a:ext cx="512064" cy="512064"/>
          </a:xfrm>
          <a:prstGeom prst="ellipse">
            <a:avLst/>
          </a:prstGeom>
          <a:solidFill>
            <a:srgbClr val="E7F4ED"/>
          </a:solidFill>
          <a:ln>
            <a:solidFill>
              <a:srgbClr val="E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7" y="1527048"/>
            <a:ext cx="475488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1B695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7" y="1472184"/>
            <a:ext cx="278892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Structured 10-item check-in</a:t>
            </a:r>
          </a:p>
        </p:txBody>
      </p:sp>
      <p:sp>
        <p:nvSpPr>
          <p:cNvPr id="14" name="Oval 13"/>
          <p:cNvSpPr/>
          <p:nvPr/>
        </p:nvSpPr>
        <p:spPr>
          <a:xfrm>
            <a:off x="8275319" y="1417320"/>
            <a:ext cx="512064" cy="512064"/>
          </a:xfrm>
          <a:prstGeom prst="ellipse">
            <a:avLst/>
          </a:prstGeom>
          <a:solidFill>
            <a:srgbClr val="E7F4ED"/>
          </a:solidFill>
          <a:ln>
            <a:solidFill>
              <a:srgbClr val="E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7" y="1527048"/>
            <a:ext cx="475488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1B695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33688" y="1472184"/>
            <a:ext cx="278892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Transparent category scoring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337560"/>
            <a:ext cx="512064" cy="512064"/>
          </a:xfrm>
          <a:prstGeom prst="ellipse">
            <a:avLst/>
          </a:prstGeom>
          <a:solidFill>
            <a:srgbClr val="E7F4ED"/>
          </a:solidFill>
          <a:ln>
            <a:solidFill>
              <a:srgbClr val="E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447288"/>
            <a:ext cx="475488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1B695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7" y="3392424"/>
            <a:ext cx="278892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Personalised practical suggestions</a:t>
            </a:r>
          </a:p>
        </p:txBody>
      </p:sp>
      <p:sp>
        <p:nvSpPr>
          <p:cNvPr id="20" name="Oval 19"/>
          <p:cNvSpPr/>
          <p:nvPr/>
        </p:nvSpPr>
        <p:spPr>
          <a:xfrm>
            <a:off x="4526279" y="3337560"/>
            <a:ext cx="512064" cy="512064"/>
          </a:xfrm>
          <a:prstGeom prst="ellipse">
            <a:avLst/>
          </a:prstGeom>
          <a:solidFill>
            <a:srgbClr val="E7F4ED"/>
          </a:solidFill>
          <a:ln>
            <a:solidFill>
              <a:srgbClr val="E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7" y="3447288"/>
            <a:ext cx="475488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1B695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7" y="3392424"/>
            <a:ext cx="278892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Previous check-in comparison</a:t>
            </a:r>
          </a:p>
        </p:txBody>
      </p:sp>
      <p:sp>
        <p:nvSpPr>
          <p:cNvPr id="23" name="Oval 22"/>
          <p:cNvSpPr/>
          <p:nvPr/>
        </p:nvSpPr>
        <p:spPr>
          <a:xfrm>
            <a:off x="8275319" y="3337560"/>
            <a:ext cx="512064" cy="512064"/>
          </a:xfrm>
          <a:prstGeom prst="ellipse">
            <a:avLst/>
          </a:prstGeom>
          <a:solidFill>
            <a:srgbClr val="E7F4ED"/>
          </a:solidFill>
          <a:ln>
            <a:solidFill>
              <a:srgbClr val="E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7" y="3447288"/>
            <a:ext cx="475488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1B695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3688" y="3392424"/>
            <a:ext cx="278892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Account access and support form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5349240"/>
            <a:ext cx="10241280" cy="59436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0120" y="5349240"/>
            <a:ext cx="82296" cy="594360"/>
          </a:xfrm>
          <a:prstGeom prst="roundRect">
            <a:avLst/>
          </a:prstGeom>
          <a:solidFill>
            <a:srgbClr val="DDB36C"/>
          </a:solidFill>
          <a:ln>
            <a:solidFill>
              <a:srgbClr val="DDB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0432" y="5495544"/>
            <a:ext cx="9875519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F2B39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5943600"/>
            <a:ext cx="9857232" cy="-91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Full-stack web application tested locally; not yet deployed as a public production service.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F2B39"/>
                </a:solidFill>
                <a:latin typeface="Aptos"/>
              </a:defRPr>
            </a:pPr>
            <a:r>
              <a:t>Proposed solution &amp;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13232" cy="50292"/>
          </a:xfrm>
          <a:prstGeom prst="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868680"/>
            <a:ext cx="9692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D6C74"/>
                </a:solidFill>
                <a:latin typeface="Aptos"/>
              </a:defRPr>
            </a:pPr>
            <a:r>
              <a:t>A clear journey from reflection to relevant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84048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5D6C74"/>
                </a:solidFill>
                <a:latin typeface="Aptos"/>
              </a:defRPr>
            </a:pPr>
            <a:r>
              <a:t>THRIVE  •  Mental Wellness &amp; Support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74519"/>
            <a:ext cx="1627632" cy="18288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417320"/>
            <a:ext cx="566928" cy="566928"/>
          </a:xfrm>
          <a:prstGeom prst="ellipse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153619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21992"/>
            <a:ext cx="1444752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1F2B39"/>
                </a:solidFill>
                <a:latin typeface="Aptos"/>
              </a:defRPr>
            </a:pPr>
            <a:r>
              <a:t>Sign in / sign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788920"/>
            <a:ext cx="144475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Account access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31136" y="2743200"/>
            <a:ext cx="210312" cy="0"/>
          </a:xfrm>
          <a:prstGeom prst="line">
            <a:avLst/>
          </a:prstGeom>
          <a:ln w="25400">
            <a:solidFill>
              <a:srgbClr val="009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05456" y="1874519"/>
            <a:ext cx="1627632" cy="18288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35808" y="1417320"/>
            <a:ext cx="566928" cy="566928"/>
          </a:xfrm>
          <a:prstGeom prst="ellipse">
            <a:avLst/>
          </a:prstGeom>
          <a:solidFill>
            <a:srgbClr val="1B695B"/>
          </a:solidFill>
          <a:ln>
            <a:solidFill>
              <a:srgbClr val="1B6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53619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2221992"/>
            <a:ext cx="1444752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1F2B39"/>
                </a:solidFill>
                <a:latin typeface="Aptos"/>
              </a:defRPr>
            </a:pPr>
            <a:r>
              <a:t>Answer 10 items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2788920"/>
            <a:ext cx="144475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Five areas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9664" y="2743200"/>
            <a:ext cx="210312" cy="0"/>
          </a:xfrm>
          <a:prstGeom prst="line">
            <a:avLst/>
          </a:prstGeom>
          <a:ln w="25400">
            <a:solidFill>
              <a:srgbClr val="009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43984" y="1874519"/>
            <a:ext cx="1627632" cy="18288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74336" y="1417320"/>
            <a:ext cx="566928" cy="566928"/>
          </a:xfrm>
          <a:prstGeom prst="ellipse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153619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2221992"/>
            <a:ext cx="1444752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1F2B39"/>
                </a:solidFill>
                <a:latin typeface="Aptos"/>
              </a:defRPr>
            </a:pPr>
            <a:r>
              <a:t>Calculate scores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2788920"/>
            <a:ext cx="144475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0–4 per answer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08192" y="2743200"/>
            <a:ext cx="210312" cy="0"/>
          </a:xfrm>
          <a:prstGeom prst="line">
            <a:avLst/>
          </a:prstGeom>
          <a:ln w="25400">
            <a:solidFill>
              <a:srgbClr val="009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82512" y="1874519"/>
            <a:ext cx="1627632" cy="18288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12864" y="1417320"/>
            <a:ext cx="566928" cy="566928"/>
          </a:xfrm>
          <a:prstGeom prst="ellipse">
            <a:avLst/>
          </a:prstGeom>
          <a:solidFill>
            <a:srgbClr val="1B695B"/>
          </a:solidFill>
          <a:ln>
            <a:solidFill>
              <a:srgbClr val="1B6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22008" y="153619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2221992"/>
            <a:ext cx="1444752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1F2B39"/>
                </a:solidFill>
                <a:latin typeface="Aptos"/>
              </a:defRPr>
            </a:pPr>
            <a:r>
              <a:t>Rank categories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2788920"/>
            <a:ext cx="144475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Highest first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046720" y="2743200"/>
            <a:ext cx="210312" cy="0"/>
          </a:xfrm>
          <a:prstGeom prst="line">
            <a:avLst/>
          </a:prstGeom>
          <a:ln w="25400">
            <a:solidFill>
              <a:srgbClr val="009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321040" y="1874519"/>
            <a:ext cx="1627632" cy="18288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51392" y="1417320"/>
            <a:ext cx="566928" cy="566928"/>
          </a:xfrm>
          <a:prstGeom prst="ellipse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0536" y="153619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221992"/>
            <a:ext cx="1444752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1F2B39"/>
                </a:solidFill>
                <a:latin typeface="Aptos"/>
              </a:defRPr>
            </a:pPr>
            <a:r>
              <a:t>Show guidance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2788920"/>
            <a:ext cx="144475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Tips + guide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985248" y="2743200"/>
            <a:ext cx="210311" cy="0"/>
          </a:xfrm>
          <a:prstGeom prst="line">
            <a:avLst/>
          </a:prstGeom>
          <a:ln w="25400">
            <a:solidFill>
              <a:srgbClr val="009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259568" y="1874519"/>
            <a:ext cx="1627632" cy="18288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789920" y="1417320"/>
            <a:ext cx="566928" cy="566928"/>
          </a:xfrm>
          <a:prstGeom prst="ellipse">
            <a:avLst/>
          </a:prstGeom>
          <a:solidFill>
            <a:srgbClr val="1B695B"/>
          </a:solidFill>
          <a:ln>
            <a:solidFill>
              <a:srgbClr val="1B6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99064" y="1536192"/>
            <a:ext cx="5486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51008" y="2221992"/>
            <a:ext cx="1444752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400" b="1" i="0">
                <a:solidFill>
                  <a:srgbClr val="1F2B39"/>
                </a:solidFill>
                <a:latin typeface="Aptos"/>
              </a:defRPr>
            </a:pPr>
            <a:r>
              <a:t>Review progress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51008" y="2788920"/>
            <a:ext cx="1444752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Compare sessions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1560" y="4617720"/>
            <a:ext cx="10058400" cy="777240"/>
          </a:xfrm>
          <a:prstGeom prst="roundRect">
            <a:avLst/>
          </a:prstGeom>
          <a:solidFill>
            <a:srgbClr val="E7F4ED"/>
          </a:solidFill>
          <a:ln>
            <a:solidFill>
              <a:srgbClr val="E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34440" y="4846320"/>
            <a:ext cx="96926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700" b="1" i="0">
                <a:solidFill>
                  <a:srgbClr val="1B695B"/>
                </a:solidFill>
                <a:latin typeface="Aptos"/>
              </a:defRPr>
            </a:pPr>
            <a:r>
              <a:t>Questionnaire scoring + deterministic rules + curated resources (not AI/ML)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F2B39"/>
                </a:solidFill>
                <a:latin typeface="Aptos"/>
              </a:defRPr>
            </a:pPr>
            <a:r>
              <a:t>Novelty &amp; real-world usage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13232" cy="50292"/>
          </a:xfrm>
          <a:prstGeom prst="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868680"/>
            <a:ext cx="9692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D6C74"/>
                </a:solidFill>
                <a:latin typeface="Aptos"/>
              </a:defRPr>
            </a:pPr>
            <a:r>
              <a:t>Connected experience with explainable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84048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5D6C74"/>
                </a:solidFill>
                <a:latin typeface="Aptos"/>
              </a:defRPr>
            </a:pPr>
            <a:r>
              <a:t>THRIVE  •  Mental Wellness &amp; Support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474720" cy="146304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82296" cy="1463040"/>
          </a:xfrm>
          <a:prstGeom prst="round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517904"/>
            <a:ext cx="31089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Personalised 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965960"/>
            <a:ext cx="3090672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Primary and secondary areas are ranked from the user’s answers.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474720" cy="146304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82296" cy="1463040"/>
          </a:xfrm>
          <a:prstGeom prst="roundRect">
            <a:avLst/>
          </a:prstGeom>
          <a:solidFill>
            <a:srgbClr val="DDB36C"/>
          </a:solidFill>
          <a:ln>
            <a:solidFill>
              <a:srgbClr val="DDB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517904"/>
            <a:ext cx="31089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Explainable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1965960"/>
            <a:ext cx="3090672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Category scores and mappings are deterministic and easy to describe.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474720" cy="146304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82296" cy="1463040"/>
          </a:xfrm>
          <a:prstGeom prst="roundRect">
            <a:avLst/>
          </a:prstGeom>
          <a:solidFill>
            <a:srgbClr val="C2DECF"/>
          </a:solidFill>
          <a:ln>
            <a:solidFill>
              <a:srgbClr val="C2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517904"/>
            <a:ext cx="31089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Connected journey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1965960"/>
            <a:ext cx="3090672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Check-in, guides, profile history and support in one platform.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46120"/>
            <a:ext cx="3474720" cy="146304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3246120"/>
            <a:ext cx="82296" cy="1463040"/>
          </a:xfrm>
          <a:prstGeom prst="round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392424"/>
            <a:ext cx="31089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Before a busy week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3840480"/>
            <a:ext cx="3090672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A student checks in and sees study pressure as a useful area to explore.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246120"/>
            <a:ext cx="3474720" cy="146304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89120" y="3246120"/>
            <a:ext cx="82296" cy="1463040"/>
          </a:xfrm>
          <a:prstGeom prst="roundRect">
            <a:avLst/>
          </a:prstGeom>
          <a:solidFill>
            <a:srgbClr val="DDB36C"/>
          </a:solidFill>
          <a:ln>
            <a:solidFill>
              <a:srgbClr val="DDB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3392424"/>
            <a:ext cx="31089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During a difficult period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3840480"/>
            <a:ext cx="3090672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The student opens practical tips for stress, sleep or relationships.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246120"/>
            <a:ext cx="3474720" cy="146304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46720" y="3246120"/>
            <a:ext cx="82296" cy="1463040"/>
          </a:xfrm>
          <a:prstGeom prst="roundRect">
            <a:avLst/>
          </a:prstGeom>
          <a:solidFill>
            <a:srgbClr val="C2DECF"/>
          </a:solidFill>
          <a:ln>
            <a:solidFill>
              <a:srgbClr val="C2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2" y="3392424"/>
            <a:ext cx="31089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Over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2" y="3840480"/>
            <a:ext cx="3090672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Profile view helps reflect on changes between check-ins.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A5951"/>
                </a:solidFill>
                <a:latin typeface="Aptos"/>
              </a:defRPr>
            </a:pPr>
            <a:r>
              <a:t>Scores are self-reflection signals, not clinical assessments. Urgent needs require appropriate emergency/professional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F2B39"/>
                </a:solidFill>
                <a:latin typeface="Aptos"/>
              </a:defRPr>
            </a:pPr>
            <a:r>
              <a:t>Hardware &amp; software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13232" cy="50292"/>
          </a:xfrm>
          <a:prstGeom prst="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868680"/>
            <a:ext cx="9692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D6C74"/>
                </a:solidFill>
                <a:latin typeface="Aptos"/>
              </a:defRPr>
            </a:pPr>
            <a:r>
              <a:t>Designed to run locally during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84048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5D6C74"/>
                </a:solidFill>
                <a:latin typeface="Aptos"/>
              </a:defRPr>
            </a:pPr>
            <a:r>
              <a:t>THRIVE  •  Mental Wellness &amp; Support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66360" cy="38862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82296" cy="3886200"/>
          </a:xfrm>
          <a:prstGeom prst="round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517904"/>
            <a:ext cx="48006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F2B39"/>
                </a:solidFill>
                <a:latin typeface="Aptos"/>
              </a:defRPr>
            </a:pPr>
            <a:r>
              <a:t>Software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965960"/>
            <a:ext cx="4782312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Frontend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• React 19 + TypeScript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• Vite, React Router, Tailwind CSS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• Fetch API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Backend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• Node.js + Express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• PostgreSQL via pg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• bcrypt, JWT, dotenv, CORS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166360" cy="38862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82296" cy="3886200"/>
          </a:xfrm>
          <a:prstGeom prst="roundRect">
            <a:avLst/>
          </a:prstGeom>
          <a:solidFill>
            <a:srgbClr val="DDB36C"/>
          </a:solidFill>
          <a:ln>
            <a:solidFill>
              <a:srgbClr val="DDB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17904"/>
            <a:ext cx="48006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1F2B39"/>
                </a:solidFill>
                <a:latin typeface="Aptos"/>
              </a:defRPr>
            </a:pPr>
            <a:r>
              <a:t>Environment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965960"/>
            <a:ext cx="4782312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• Laptop or desktop computer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• Modern web browser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• Node.js/npm runtime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• PostgreSQL database service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• Frontend: localhost:5173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• Backend: localhost:5000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• Database: localhost:5432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No specialised hardware required.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BA5951"/>
                </a:solidFill>
                <a:latin typeface="Aptos"/>
              </a:defRPr>
            </a:pPr>
            <a:r>
              <a:t>Deployment status: local development setup; public production deployment is not claimed.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F2B39"/>
                </a:solidFill>
                <a:latin typeface="Aptos"/>
              </a:defRPr>
            </a:pPr>
            <a:r>
              <a:t>Overall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13232" cy="50292"/>
          </a:xfrm>
          <a:prstGeom prst="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868680"/>
            <a:ext cx="9692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D6C74"/>
                </a:solidFill>
                <a:latin typeface="Aptos"/>
              </a:defRPr>
            </a:pPr>
            <a:r>
              <a:t>Frontend → API routes →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84048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5D6C74"/>
                </a:solidFill>
                <a:latin typeface="Aptos"/>
              </a:defRPr>
            </a:pPr>
            <a:r>
              <a:t>THRIVE  •  Mental Wellness &amp; Support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743200" cy="347472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64208"/>
            <a:ext cx="23774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1B695B"/>
                </a:solidFill>
                <a:latin typeface="Aptos"/>
              </a:defRPr>
            </a:pPr>
            <a:r>
              <a:t>CLIENT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148840"/>
            <a:ext cx="2011680" cy="658368"/>
          </a:xfrm>
          <a:prstGeom prst="roundRect">
            <a:avLst/>
          </a:prstGeom>
          <a:solidFill>
            <a:srgbClr val="E7F4ED"/>
          </a:solidFill>
          <a:ln>
            <a:solidFill>
              <a:srgbClr val="E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40864"/>
            <a:ext cx="19202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1F2B39"/>
                </a:solidFill>
                <a:latin typeface="Aptos"/>
              </a:defRPr>
            </a:pPr>
            <a:r>
              <a:t>React + 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219456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Home • Resources • Support</a:t>
            </a:r>
          </a:p>
          <a:p>
            <a:pPr algn="ctr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Login/Signup • Check-in • 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417320"/>
            <a:ext cx="2743200" cy="347472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664208"/>
            <a:ext cx="23774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1B695B"/>
                </a:solidFill>
                <a:latin typeface="Aptos"/>
              </a:defRPr>
            </a:pPr>
            <a:r>
              <a:t>APPLICATION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2148840"/>
            <a:ext cx="2011680" cy="658368"/>
          </a:xfrm>
          <a:prstGeom prst="roundRect">
            <a:avLst/>
          </a:prstGeom>
          <a:solidFill>
            <a:srgbClr val="E7F4ED"/>
          </a:solidFill>
          <a:ln>
            <a:solidFill>
              <a:srgbClr val="E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340864"/>
            <a:ext cx="19202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1F2B39"/>
                </a:solidFill>
                <a:latin typeface="Aptos"/>
              </a:defRPr>
            </a:pPr>
            <a:r>
              <a:t>Node.js + Express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063240"/>
            <a:ext cx="219456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REST routes</a:t>
            </a:r>
          </a:p>
          <a:p>
            <a:pPr algn="ctr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/auth • /users • /resources</a:t>
            </a:r>
          </a:p>
          <a:p>
            <a:pPr algn="ctr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/support • /checkins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417320"/>
            <a:ext cx="2743200" cy="347472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9" y="1664208"/>
            <a:ext cx="23774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1B695B"/>
                </a:solidFill>
                <a:latin typeface="Aptos"/>
              </a:defRPr>
            </a:pPr>
            <a:r>
              <a:t>DATA LAYER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148840"/>
            <a:ext cx="2011680" cy="658368"/>
          </a:xfrm>
          <a:prstGeom prst="roundRect">
            <a:avLst/>
          </a:prstGeom>
          <a:solidFill>
            <a:srgbClr val="E7F4ED"/>
          </a:solidFill>
          <a:ln>
            <a:solidFill>
              <a:srgbClr val="E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19" y="2340864"/>
            <a:ext cx="19202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1F2B39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063240"/>
            <a:ext cx="219456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Users • Resources</a:t>
            </a:r>
          </a:p>
          <a:p>
            <a:pPr algn="ctr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Support requests</a:t>
            </a:r>
          </a:p>
          <a:p>
            <a:pPr algn="ctr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Check-in sessions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74720" y="2971800"/>
            <a:ext cx="1097280" cy="0"/>
          </a:xfrm>
          <a:prstGeom prst="line">
            <a:avLst/>
          </a:prstGeom>
          <a:ln w="25400">
            <a:solidFill>
              <a:srgbClr val="009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543800" y="2971800"/>
            <a:ext cx="1097280" cy="0"/>
          </a:xfrm>
          <a:prstGeom prst="line">
            <a:avLst/>
          </a:prstGeom>
          <a:ln w="25400">
            <a:solidFill>
              <a:srgbClr val="009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47872" y="2615184"/>
            <a:ext cx="9144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5D6C74"/>
                </a:solidFill>
                <a:latin typeface="Aptos"/>
              </a:defRPr>
            </a:pPr>
            <a:r>
              <a:t>HTTP /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615184"/>
            <a:ext cx="7315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000" b="0" i="0">
                <a:solidFill>
                  <a:srgbClr val="5D6C74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440680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BA5951"/>
                </a:solidFill>
                <a:latin typeface="Aptos"/>
              </a:defRPr>
            </a:pPr>
            <a:r>
              <a:t>Authentication uses bcrypt and JWT; current endpoint protection is not uniform.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F2B39"/>
                </a:solidFill>
                <a:latin typeface="Aptos"/>
              </a:defRPr>
            </a:pPr>
            <a:r>
              <a:t>Core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13232" cy="50292"/>
          </a:xfrm>
          <a:prstGeom prst="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868680"/>
            <a:ext cx="9692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D6C74"/>
                </a:solidFill>
                <a:latin typeface="Aptos"/>
              </a:defRPr>
            </a:pPr>
            <a:r>
              <a:t>Clear responsibilities across 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84048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5D6C74"/>
                </a:solidFill>
                <a:latin typeface="Aptos"/>
              </a:defRPr>
            </a:pPr>
            <a:r>
              <a:t>THRIVE  •  Mental Wellness &amp; Support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429000" cy="16002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82296" cy="1600200"/>
          </a:xfrm>
          <a:prstGeom prst="round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517904"/>
            <a:ext cx="30632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965960"/>
            <a:ext cx="3044952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Signup, login, password hashing and JWT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371600"/>
            <a:ext cx="3429000" cy="16002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371600"/>
            <a:ext cx="82296" cy="1600200"/>
          </a:xfrm>
          <a:prstGeom prst="roundRect">
            <a:avLst/>
          </a:prstGeom>
          <a:solidFill>
            <a:srgbClr val="DDB36C"/>
          </a:solidFill>
          <a:ln>
            <a:solidFill>
              <a:srgbClr val="DDB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517904"/>
            <a:ext cx="30632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Resource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1965960"/>
            <a:ext cx="3044952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Browse, search, category filtering and guides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371600"/>
            <a:ext cx="3429000" cy="16002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1371600"/>
            <a:ext cx="82296" cy="1600200"/>
          </a:xfrm>
          <a:prstGeom prst="roundRect">
            <a:avLst/>
          </a:prstGeom>
          <a:solidFill>
            <a:srgbClr val="C2DECF"/>
          </a:solidFill>
          <a:ln>
            <a:solidFill>
              <a:srgbClr val="C2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1517904"/>
            <a:ext cx="30632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Wellbeing check-in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1965960"/>
            <a:ext cx="3044952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10 questions across five categories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29000"/>
            <a:ext cx="3429000" cy="16002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3429000"/>
            <a:ext cx="82296" cy="1600200"/>
          </a:xfrm>
          <a:prstGeom prst="roundRect">
            <a:avLst/>
          </a:prstGeom>
          <a:solidFill>
            <a:srgbClr val="1B695B"/>
          </a:solidFill>
          <a:ln>
            <a:solidFill>
              <a:srgbClr val="1B6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575304"/>
            <a:ext cx="30632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Rule-based 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4023360"/>
            <a:ext cx="3044952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Rank scores and map to guidance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3429000"/>
            <a:ext cx="3429000" cy="16002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26280" y="3429000"/>
            <a:ext cx="82296" cy="1600200"/>
          </a:xfrm>
          <a:prstGeom prst="roundRect">
            <a:avLst/>
          </a:prstGeom>
          <a:solidFill>
            <a:srgbClr val="BA5951"/>
          </a:solidFill>
          <a:ln>
            <a:solidFill>
              <a:srgbClr val="BA5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3575304"/>
            <a:ext cx="30632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Profile &amp; 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592" y="4023360"/>
            <a:ext cx="3044952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Latest/previous sessions and score comparison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429000"/>
            <a:ext cx="3429000" cy="16002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21040" y="3429000"/>
            <a:ext cx="82296" cy="1600200"/>
          </a:xfrm>
          <a:prstGeom prst="round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3575304"/>
            <a:ext cx="30632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Support requests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1352" y="4023360"/>
            <a:ext cx="3044952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Contact form saved to PostgreSQL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15000"/>
            <a:ext cx="102412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1B695B"/>
                </a:solidFill>
                <a:latin typeface="Aptos"/>
              </a:defRPr>
            </a:pPr>
            <a:r>
              <a:t>API groups: /api/auth • /api/users • /api/resources • /api/support • /api/checkins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F2B39"/>
                </a:solidFill>
                <a:latin typeface="Aptos"/>
              </a:defRPr>
            </a:pPr>
            <a:r>
              <a:t>Check-in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13232" cy="50292"/>
          </a:xfrm>
          <a:prstGeom prst="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868680"/>
            <a:ext cx="9692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D6C74"/>
                </a:solidFill>
                <a:latin typeface="Aptos"/>
              </a:defRPr>
            </a:pPr>
            <a:r>
              <a:t>From answers to primary and secondary 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84048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5D6C74"/>
                </a:solidFill>
                <a:latin typeface="Aptos"/>
              </a:defRPr>
            </a:pPr>
            <a:r>
              <a:t>THRIVE  •  Mental Wellness &amp; Support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1874519" cy="150876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691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1B695B"/>
                </a:solidFill>
                <a:latin typeface="Aptos"/>
              </a:defRPr>
            </a:pPr>
            <a:r>
              <a:t>10 answers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587752"/>
            <a:ext cx="16459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0" i="0">
                <a:solidFill>
                  <a:srgbClr val="5D6C74"/>
                </a:solidFill>
                <a:latin typeface="Aptos"/>
              </a:defRPr>
            </a:pPr>
            <a:r>
              <a:t>Each response: 0–4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87752" y="2587752"/>
            <a:ext cx="310896" cy="0"/>
          </a:xfrm>
          <a:prstGeom prst="line">
            <a:avLst/>
          </a:prstGeom>
          <a:ln w="25400">
            <a:solidFill>
              <a:srgbClr val="009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90088" y="1828800"/>
            <a:ext cx="1874519" cy="150876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1528" y="2103120"/>
            <a:ext cx="1691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1B695B"/>
                </a:solidFill>
                <a:latin typeface="Aptos"/>
              </a:defRPr>
            </a:pPr>
            <a:r>
              <a:t>Group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9816" y="2587752"/>
            <a:ext cx="16459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0" i="0">
                <a:solidFill>
                  <a:srgbClr val="5D6C74"/>
                </a:solidFill>
                <a:latin typeface="Aptos"/>
              </a:defRPr>
            </a:pPr>
            <a:r>
              <a:t>2 per category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92040" y="2587752"/>
            <a:ext cx="310896" cy="0"/>
          </a:xfrm>
          <a:prstGeom prst="line">
            <a:avLst/>
          </a:prstGeom>
          <a:ln w="25400">
            <a:solidFill>
              <a:srgbClr val="009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94376" y="1828800"/>
            <a:ext cx="1874519" cy="150876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85816" y="2103120"/>
            <a:ext cx="1691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1B695B"/>
                </a:solidFill>
                <a:latin typeface="Aptos"/>
              </a:defRPr>
            </a:pPr>
            <a:r>
              <a:t>Sum scores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4104" y="2587752"/>
            <a:ext cx="16459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0" i="0">
                <a:solidFill>
                  <a:srgbClr val="5D6C74"/>
                </a:solidFill>
                <a:latin typeface="Aptos"/>
              </a:defRPr>
            </a:pPr>
            <a:r>
              <a:t>Each area: 0–8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96328" y="2587752"/>
            <a:ext cx="310896" cy="0"/>
          </a:xfrm>
          <a:prstGeom prst="line">
            <a:avLst/>
          </a:prstGeom>
          <a:ln w="25400">
            <a:solidFill>
              <a:srgbClr val="009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98664" y="1828800"/>
            <a:ext cx="1874519" cy="150876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0104" y="2103120"/>
            <a:ext cx="1691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1B695B"/>
                </a:solidFill>
                <a:latin typeface="Aptos"/>
              </a:defRPr>
            </a:pPr>
            <a:r>
              <a:t>Sort scores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8392" y="2587752"/>
            <a:ext cx="16459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0" i="0">
                <a:solidFill>
                  <a:srgbClr val="5D6C74"/>
                </a:solidFill>
                <a:latin typeface="Aptos"/>
              </a:defRPr>
            </a:pPr>
            <a:r>
              <a:t>Highest to lowest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00616" y="2587752"/>
            <a:ext cx="310896" cy="0"/>
          </a:xfrm>
          <a:prstGeom prst="line">
            <a:avLst/>
          </a:prstGeom>
          <a:ln w="25400">
            <a:solidFill>
              <a:srgbClr val="009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902952" y="1828800"/>
            <a:ext cx="1874519" cy="150876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94392" y="2103120"/>
            <a:ext cx="1691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1B695B"/>
                </a:solidFill>
                <a:latin typeface="Aptos"/>
              </a:defRPr>
            </a:pPr>
            <a:r>
              <a:t>Map guidance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587752"/>
            <a:ext cx="16459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0" i="0">
                <a:solidFill>
                  <a:srgbClr val="5D6C74"/>
                </a:solidFill>
                <a:latin typeface="Aptos"/>
              </a:defRPr>
            </a:pPr>
            <a:r>
              <a:t>Tips + guide link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160520"/>
            <a:ext cx="10241280" cy="960120"/>
          </a:xfrm>
          <a:prstGeom prst="roundRect">
            <a:avLst/>
          </a:prstGeom>
          <a:solidFill>
            <a:srgbClr val="E7F4ED"/>
          </a:solidFill>
          <a:ln>
            <a:solidFill>
              <a:srgbClr val="E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462272"/>
            <a:ext cx="9784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500" b="1" i="0">
                <a:solidFill>
                  <a:srgbClr val="1B695B"/>
                </a:solidFill>
                <a:latin typeface="Aptos"/>
              </a:defRPr>
            </a:pPr>
            <a:r>
              <a:t>Not at all = 0   •   A little = 1   •   Sometimes = 2   •   Often = 3   •   Very often =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623560"/>
            <a:ext cx="103327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0" i="0">
                <a:solidFill>
                  <a:srgbClr val="5D6C74"/>
                </a:solidFill>
                <a:latin typeface="Aptos"/>
              </a:defRPr>
            </a:pPr>
            <a:r>
              <a:t>Areas: Academic Pressure • Relationships &amp; Friendship • Stress &amp; Overwhelm • Sleep &amp; Rest • Confidence &amp; Self-Esteem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F2B39"/>
                </a:solidFill>
                <a:latin typeface="Aptos"/>
              </a:defRPr>
            </a:pPr>
            <a:r>
              <a:t>Scoring &amp; recommendation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13232" cy="50292"/>
          </a:xfrm>
          <a:prstGeom prst="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868680"/>
            <a:ext cx="9692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D6C74"/>
                </a:solidFill>
                <a:latin typeface="Aptos"/>
              </a:defRPr>
            </a:pPr>
            <a:r>
              <a:t>Transparent rules—not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84048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5D6C74"/>
                </a:solidFill>
                <a:latin typeface="Aptos"/>
              </a:defRPr>
            </a:pPr>
            <a:r>
              <a:t>THRIVE  •  Mental Wellness &amp; Support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1F2B39"/>
                </a:solidFill>
                <a:latin typeface="Aptos"/>
              </a:defRPr>
            </a:pPr>
            <a:r>
              <a:t>Illustrative saved check-in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2331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1F2B39"/>
                </a:solidFill>
                <a:latin typeface="Aptos"/>
              </a:defRPr>
            </a:pPr>
            <a:r>
              <a:t>Academic Pressure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755648"/>
            <a:ext cx="3383280" cy="201168"/>
          </a:xfrm>
          <a:prstGeom prst="roundRect">
            <a:avLst/>
          </a:prstGeom>
          <a:solidFill>
            <a:srgbClr val="E5E7E2"/>
          </a:solidFill>
          <a:ln>
            <a:solidFill>
              <a:srgbClr val="E5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46120" y="1755648"/>
            <a:ext cx="2960370" cy="201168"/>
          </a:xfrm>
          <a:prstGeom prst="round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719072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1F2B39"/>
                </a:solidFill>
                <a:latin typeface="Aptos"/>
              </a:defRPr>
            </a:pPr>
            <a:r>
              <a:t>7/8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04288"/>
            <a:ext cx="2331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1F2B39"/>
                </a:solidFill>
                <a:latin typeface="Aptos"/>
              </a:defRPr>
            </a:pPr>
            <a:r>
              <a:t>Relationships &amp; Friendship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322576"/>
            <a:ext cx="3383280" cy="201168"/>
          </a:xfrm>
          <a:prstGeom prst="roundRect">
            <a:avLst/>
          </a:prstGeom>
          <a:solidFill>
            <a:srgbClr val="E5E7E2"/>
          </a:solidFill>
          <a:ln>
            <a:solidFill>
              <a:srgbClr val="E5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46120" y="2322576"/>
            <a:ext cx="2960370" cy="201168"/>
          </a:xfrm>
          <a:prstGeom prst="round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286000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1F2B39"/>
                </a:solidFill>
                <a:latin typeface="Aptos"/>
              </a:defRPr>
            </a:pPr>
            <a:r>
              <a:t>7/8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71215"/>
            <a:ext cx="2331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1F2B39"/>
                </a:solidFill>
                <a:latin typeface="Aptos"/>
              </a:defRPr>
            </a:pPr>
            <a:r>
              <a:t>Stress &amp; Overwhelm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2889503"/>
            <a:ext cx="3383280" cy="201168"/>
          </a:xfrm>
          <a:prstGeom prst="roundRect">
            <a:avLst/>
          </a:prstGeom>
          <a:solidFill>
            <a:srgbClr val="E5E7E2"/>
          </a:solidFill>
          <a:ln>
            <a:solidFill>
              <a:srgbClr val="E5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46120" y="2889503"/>
            <a:ext cx="1268730" cy="201168"/>
          </a:xfrm>
          <a:prstGeom prst="roundRect">
            <a:avLst/>
          </a:prstGeom>
          <a:solidFill>
            <a:srgbClr val="C2DECF"/>
          </a:solidFill>
          <a:ln>
            <a:solidFill>
              <a:srgbClr val="C2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852927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1F2B39"/>
                </a:solidFill>
                <a:latin typeface="Aptos"/>
              </a:defRPr>
            </a:pPr>
            <a:r>
              <a:t>3/8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438144"/>
            <a:ext cx="2331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1F2B39"/>
                </a:solidFill>
                <a:latin typeface="Aptos"/>
              </a:defRPr>
            </a:pPr>
            <a:r>
              <a:t>Sleep &amp; Rest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3456432"/>
            <a:ext cx="3383280" cy="201168"/>
          </a:xfrm>
          <a:prstGeom prst="roundRect">
            <a:avLst/>
          </a:prstGeom>
          <a:solidFill>
            <a:srgbClr val="E5E7E2"/>
          </a:solidFill>
          <a:ln>
            <a:solidFill>
              <a:srgbClr val="E5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46120" y="3456432"/>
            <a:ext cx="2114550" cy="201168"/>
          </a:xfrm>
          <a:prstGeom prst="roundRect">
            <a:avLst/>
          </a:prstGeom>
          <a:solidFill>
            <a:srgbClr val="C2DECF"/>
          </a:solidFill>
          <a:ln>
            <a:solidFill>
              <a:srgbClr val="C2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419856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1F2B39"/>
                </a:solidFill>
                <a:latin typeface="Aptos"/>
              </a:defRPr>
            </a:pPr>
            <a:r>
              <a:t>5/8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005072"/>
            <a:ext cx="2331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1F2B39"/>
                </a:solidFill>
                <a:latin typeface="Aptos"/>
              </a:defRPr>
            </a:pPr>
            <a:r>
              <a:t>Confidence &amp; Self-Esteem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6120" y="4023359"/>
            <a:ext cx="3383280" cy="201168"/>
          </a:xfrm>
          <a:prstGeom prst="roundRect">
            <a:avLst/>
          </a:prstGeom>
          <a:solidFill>
            <a:srgbClr val="E5E7E2"/>
          </a:solidFill>
          <a:ln>
            <a:solidFill>
              <a:srgbClr val="E5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46120" y="4023359"/>
            <a:ext cx="1268730" cy="201168"/>
          </a:xfrm>
          <a:prstGeom prst="roundRect">
            <a:avLst/>
          </a:prstGeom>
          <a:solidFill>
            <a:srgbClr val="C2DECF"/>
          </a:solidFill>
          <a:ln>
            <a:solidFill>
              <a:srgbClr val="C2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986784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1F2B39"/>
                </a:solidFill>
                <a:latin typeface="Aptos"/>
              </a:defRPr>
            </a:pPr>
            <a:r>
              <a:t>3/8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43800" y="1600200"/>
            <a:ext cx="3749039" cy="128016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43800" y="1600200"/>
            <a:ext cx="82296" cy="1280160"/>
          </a:xfrm>
          <a:prstGeom prst="round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54112" y="1746504"/>
            <a:ext cx="3383279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Primary area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4112" y="2194560"/>
            <a:ext cx="3364991" cy="5943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Academic Pressure / Relationships &amp; Friendship (tied highest)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43800" y="3200400"/>
            <a:ext cx="3749039" cy="128016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543800" y="3200400"/>
            <a:ext cx="82296" cy="1280160"/>
          </a:xfrm>
          <a:prstGeom prst="roundRect">
            <a:avLst/>
          </a:prstGeom>
          <a:solidFill>
            <a:srgbClr val="DDB36C"/>
          </a:solidFill>
          <a:ln>
            <a:solidFill>
              <a:srgbClr val="DDB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54112" y="3346704"/>
            <a:ext cx="3383279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Recommendation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4112" y="3794760"/>
            <a:ext cx="3364991" cy="59435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Top-ranked areas map to practical tips and relevant guide links.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57784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1B695B"/>
                </a:solidFill>
                <a:latin typeface="Aptos"/>
              </a:defRPr>
            </a:pPr>
            <a:r>
              <a:t>Rule sequence: sum by category → sort descending → select top two → display guidance.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F2B39"/>
                </a:solidFill>
                <a:latin typeface="Aptos"/>
              </a:defRPr>
            </a:pPr>
            <a:r>
              <a:t>Project snapshot: resource library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13232" cy="50292"/>
          </a:xfrm>
          <a:prstGeom prst="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868680"/>
            <a:ext cx="9692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D6C74"/>
                </a:solidFill>
                <a:latin typeface="Aptos"/>
              </a:defRPr>
            </a:pPr>
            <a:r>
              <a:t>Search and topic filters make resources easier to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84048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SCREENSHOTS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5D6C74"/>
                </a:solidFill>
                <a:latin typeface="Aptos"/>
              </a:defRPr>
            </a:pPr>
            <a:r>
              <a:t>THRIVE  •  Mental Wellness &amp; Support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3" y="1197864"/>
            <a:ext cx="6931152" cy="4782312"/>
          </a:xfrm>
          <a:prstGeom prst="roundRect">
            <a:avLst/>
          </a:prstGeom>
          <a:solidFill>
            <a:srgbClr val="FFFFFF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hatsApp Image 2026-10-08 at 11.42.31 AM 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77390"/>
            <a:ext cx="6858000" cy="32232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818120" y="1508760"/>
            <a:ext cx="3520440" cy="11430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1508760"/>
            <a:ext cx="82296" cy="1143000"/>
          </a:xfrm>
          <a:prstGeom prst="round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2" y="1655063"/>
            <a:ext cx="31546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2" y="2103120"/>
            <a:ext cx="3136392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Matches resource titles, descriptions, categories and tags.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880360"/>
            <a:ext cx="3520440" cy="11430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18120" y="2880360"/>
            <a:ext cx="82296" cy="1143000"/>
          </a:xfrm>
          <a:prstGeom prst="roundRect">
            <a:avLst/>
          </a:prstGeom>
          <a:solidFill>
            <a:srgbClr val="DDB36C"/>
          </a:solidFill>
          <a:ln>
            <a:solidFill>
              <a:srgbClr val="DDB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2" y="3026664"/>
            <a:ext cx="31546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Filter topics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2" y="3474720"/>
            <a:ext cx="3136392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Stress, study, sleep, confidence, habits and relationships.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4251960"/>
            <a:ext cx="3520440" cy="11430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18120" y="4251960"/>
            <a:ext cx="82296" cy="1143000"/>
          </a:xfrm>
          <a:prstGeom prst="roundRect">
            <a:avLst/>
          </a:prstGeom>
          <a:solidFill>
            <a:srgbClr val="C2DECF"/>
          </a:solidFill>
          <a:ln>
            <a:solidFill>
              <a:srgbClr val="C2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8432" y="4398264"/>
            <a:ext cx="31546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Availability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2" y="4846320"/>
            <a:ext cx="3136392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Some guides are available; others are marked in development.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F2B39"/>
                </a:solidFill>
                <a:latin typeface="Aptos"/>
              </a:defRPr>
            </a:pPr>
            <a:r>
              <a:t>Project snapshot: support request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13232" cy="50292"/>
          </a:xfrm>
          <a:prstGeom prst="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868680"/>
            <a:ext cx="9692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D6C74"/>
                </a:solidFill>
                <a:latin typeface="Aptos"/>
              </a:defRPr>
            </a:pPr>
            <a:r>
              <a:t>A simple contact form connected to the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84048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SCREENSHOTS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5D6C74"/>
                </a:solidFill>
                <a:latin typeface="Aptos"/>
              </a:defRPr>
            </a:pPr>
            <a:r>
              <a:t>THRIVE  •  Mental Wellness &amp; Support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3" y="1197864"/>
            <a:ext cx="6931152" cy="4782312"/>
          </a:xfrm>
          <a:prstGeom prst="roundRect">
            <a:avLst/>
          </a:prstGeom>
          <a:solidFill>
            <a:srgbClr val="FFFFFF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hatsApp Image 2026-10-08 at 11.42.31 AM (5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3104"/>
            <a:ext cx="6858000" cy="379183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818120" y="1554480"/>
            <a:ext cx="3520440" cy="11430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1554480"/>
            <a:ext cx="82296" cy="1143000"/>
          </a:xfrm>
          <a:prstGeom prst="round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2" y="1700784"/>
            <a:ext cx="31546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2" y="2148840"/>
            <a:ext cx="3136392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Name • email • message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926080"/>
            <a:ext cx="3520440" cy="11430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18120" y="2926080"/>
            <a:ext cx="82296" cy="1143000"/>
          </a:xfrm>
          <a:prstGeom prst="roundRect">
            <a:avLst/>
          </a:prstGeom>
          <a:solidFill>
            <a:srgbClr val="DDB36C"/>
          </a:solidFill>
          <a:ln>
            <a:solidFill>
              <a:srgbClr val="DDB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2" y="3072384"/>
            <a:ext cx="31546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Backend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2" y="3520440"/>
            <a:ext cx="3136392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Validates required content and stores the request.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4297680"/>
            <a:ext cx="3520440" cy="11430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18120" y="4297680"/>
            <a:ext cx="82296" cy="1143000"/>
          </a:xfrm>
          <a:prstGeom prst="roundRect">
            <a:avLst/>
          </a:prstGeom>
          <a:solidFill>
            <a:srgbClr val="BA5951"/>
          </a:solidFill>
          <a:ln>
            <a:solidFill>
              <a:srgbClr val="BA5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8432" y="4443984"/>
            <a:ext cx="31546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2" y="4892040"/>
            <a:ext cx="3136392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5D6C74"/>
                </a:solidFill>
                <a:latin typeface="Aptos"/>
              </a:defRPr>
            </a:pPr>
            <a:r>
              <a:t>Submission does not guarantee response time or clinical care.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F2B39"/>
                </a:solidFill>
                <a:latin typeface="Aptos"/>
              </a:defRPr>
            </a:pPr>
            <a:r>
              <a:t>Implementation &amp; data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13232" cy="50292"/>
          </a:xfrm>
          <a:prstGeom prst="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868680"/>
            <a:ext cx="9692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D6C74"/>
                </a:solidFill>
                <a:latin typeface="Aptos"/>
              </a:defRPr>
            </a:pPr>
            <a:r>
              <a:t>Full-stack web app with a relational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84048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5D6C74"/>
                </a:solidFill>
                <a:latin typeface="Aptos"/>
              </a:defRPr>
            </a:pPr>
            <a:r>
              <a:t>THRIVE  •  Mental Wellness &amp; Support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66360" cy="347472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82296" cy="3474720"/>
          </a:xfrm>
          <a:prstGeom prst="round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517904"/>
            <a:ext cx="48006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1F2B39"/>
                </a:solidFill>
                <a:latin typeface="Aptos"/>
              </a:defRPr>
            </a:pPr>
            <a:r>
              <a:t>Frontend /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965960"/>
            <a:ext cx="4782312" cy="2788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React + TypeScript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Vite • React Router • Tailwind CSS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Fetch API service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Node.js + Express REST API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JWT auth • bcrypt password hashing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Routes for auth, users, resources, support and check-ins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166360" cy="347472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82296" cy="3474720"/>
          </a:xfrm>
          <a:prstGeom prst="roundRect">
            <a:avLst/>
          </a:prstGeom>
          <a:solidFill>
            <a:srgbClr val="DDB36C"/>
          </a:solidFill>
          <a:ln>
            <a:solidFill>
              <a:srgbClr val="DDB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17904"/>
            <a:ext cx="48006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1F2B39"/>
                </a:solidFill>
                <a:latin typeface="Aptos"/>
              </a:defRPr>
            </a:pPr>
            <a:r>
              <a:t>Database entities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965960"/>
            <a:ext cx="4782312" cy="2788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users — account identity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resources — title, slug, description, category, tags, availability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support_requests — name, email, message, timestamp</a:t>
            </a:r>
          </a:p>
          <a:p>
            <a:pPr algn="l">
              <a:spcAft>
                <a:spcPts val="400"/>
              </a:spcAft>
              <a:defRPr sz="1400" b="0" i="0">
                <a:solidFill>
                  <a:srgbClr val="5D6C74"/>
                </a:solidFill>
                <a:latin typeface="Aptos"/>
              </a:defRPr>
            </a:pPr>
            <a:r>
              <a:t>checkin_sessions — five scores, primary/secondary areas, timestamp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49240"/>
            <a:ext cx="102412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A5951"/>
                </a:solidFill>
                <a:latin typeface="Aptos"/>
              </a:defRPr>
            </a:pPr>
            <a:r>
              <a:t>Setup note: the app expects a users table; ensure it exists during database initialization.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76072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Search is debounced and uses request cancellation; API base URL uses VITE_API_URL (fallback localhost:5000).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F2B39"/>
                </a:solidFill>
                <a:latin typeface="Aptos"/>
              </a:defRPr>
            </a:pPr>
            <a:r>
              <a:t>Project snapshot: home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13232" cy="50292"/>
          </a:xfrm>
          <a:prstGeom prst="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868680"/>
            <a:ext cx="9692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D6C74"/>
                </a:solidFill>
                <a:latin typeface="Aptos"/>
              </a:defRPr>
            </a:pPr>
            <a:r>
              <a:t>The landing page introduces the check-in and resource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84048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SCREENSHOTS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5D6C74"/>
                </a:solidFill>
                <a:latin typeface="Aptos"/>
              </a:defRPr>
            </a:pPr>
            <a:r>
              <a:t>THRIVE  •  Mental Wellness &amp; Support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" y="1197864"/>
            <a:ext cx="7891272" cy="4873752"/>
          </a:xfrm>
          <a:prstGeom prst="roundRect">
            <a:avLst/>
          </a:prstGeom>
          <a:solidFill>
            <a:srgbClr val="FFFFFF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hatsApp Image 2026-10-08 at 11.42.31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33620"/>
            <a:ext cx="7818120" cy="42022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778240" y="1600200"/>
            <a:ext cx="2468880" cy="118872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0" y="1600200"/>
            <a:ext cx="82296" cy="1188720"/>
          </a:xfrm>
          <a:prstGeom prst="round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8552" y="1746504"/>
            <a:ext cx="21031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F2B39"/>
                </a:solidFill>
                <a:latin typeface="Aptos"/>
              </a:defRPr>
            </a:pPr>
            <a:r>
              <a:t>Clear entry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88552" y="2194560"/>
            <a:ext cx="2084832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5D6C74"/>
                </a:solidFill>
                <a:latin typeface="Aptos"/>
              </a:defRPr>
            </a:pPr>
            <a:r>
              <a:t>Start a check-in or explore resources.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3063240"/>
            <a:ext cx="2468880" cy="118872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78240" y="3063240"/>
            <a:ext cx="82296" cy="1188720"/>
          </a:xfrm>
          <a:prstGeom prst="roundRect">
            <a:avLst/>
          </a:prstGeom>
          <a:solidFill>
            <a:srgbClr val="DDB36C"/>
          </a:solidFill>
          <a:ln>
            <a:solidFill>
              <a:srgbClr val="DDB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3209544"/>
            <a:ext cx="21031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F2B39"/>
                </a:solidFill>
                <a:latin typeface="Aptos"/>
              </a:defRPr>
            </a:pPr>
            <a:r>
              <a:t>Calm visual 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3657600"/>
            <a:ext cx="2084832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5D6C74"/>
                </a:solidFill>
                <a:latin typeface="Aptos"/>
              </a:defRPr>
            </a:pPr>
            <a:r>
              <a:t>Light backgrounds, teal accents and reassuring copy.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4754880"/>
            <a:ext cx="2377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100" b="0" i="1">
                <a:solidFill>
                  <a:srgbClr val="5D6C74"/>
                </a:solidFill>
                <a:latin typeface="Aptos"/>
              </a:defRPr>
            </a:pPr>
            <a:r>
              <a:t>Actual project screenshot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F2B39"/>
                </a:solidFill>
                <a:latin typeface="Aptos"/>
              </a:defRPr>
            </a:pPr>
            <a:r>
              <a:t>Project snapshot: personalised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13232" cy="50292"/>
          </a:xfrm>
          <a:prstGeom prst="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868680"/>
            <a:ext cx="9692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D6C74"/>
                </a:solidFill>
                <a:latin typeface="Aptos"/>
              </a:defRPr>
            </a:pPr>
            <a:r>
              <a:t>Primary and secondary areas with actionable suggestions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84048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SCREENSHOTS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5D6C74"/>
                </a:solidFill>
                <a:latin typeface="Aptos"/>
              </a:defRPr>
            </a:pPr>
            <a:r>
              <a:t>THRIVE  •  Mental Wellness &amp; Support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" y="1152144"/>
            <a:ext cx="7708392" cy="4965192"/>
          </a:xfrm>
          <a:prstGeom prst="roundRect">
            <a:avLst/>
          </a:prstGeom>
          <a:solidFill>
            <a:srgbClr val="FFFFFF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hatsApp Image 2026-10-08 at 11.42.32 AM (11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352" y="1188720"/>
            <a:ext cx="6047255" cy="48920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58200" y="1554480"/>
            <a:ext cx="2834640" cy="123444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58200" y="1554480"/>
            <a:ext cx="82296" cy="1234440"/>
          </a:xfrm>
          <a:prstGeom prst="round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68512" y="1700784"/>
            <a:ext cx="24688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F2B39"/>
                </a:solidFill>
                <a:latin typeface="Aptos"/>
              </a:defRPr>
            </a:pPr>
            <a:r>
              <a:t>Primary 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148840"/>
            <a:ext cx="2450592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Sleep &amp; Rest — 8/8 in the attached example.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3063240"/>
            <a:ext cx="2834640" cy="123444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58200" y="3063240"/>
            <a:ext cx="82296" cy="1234440"/>
          </a:xfrm>
          <a:prstGeom prst="roundRect">
            <a:avLst/>
          </a:prstGeom>
          <a:solidFill>
            <a:srgbClr val="DDB36C"/>
          </a:solidFill>
          <a:ln>
            <a:solidFill>
              <a:srgbClr val="DDB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2" y="3209544"/>
            <a:ext cx="24688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F2B39"/>
                </a:solidFill>
                <a:latin typeface="Aptos"/>
              </a:defRPr>
            </a:pPr>
            <a:r>
              <a:t>Secondary area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8512" y="3657600"/>
            <a:ext cx="2450592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Academic Pressure — 6/8 in the attached example.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709160"/>
            <a:ext cx="27432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A5951"/>
                </a:solidFill>
                <a:latin typeface="Aptos"/>
              </a:defRPr>
            </a:pPr>
            <a:r>
              <a:t>Scores are not a clinical diagnosis.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F2B39"/>
                </a:solidFill>
                <a:latin typeface="Aptos"/>
              </a:defRPr>
            </a:pPr>
            <a:r>
              <a:t>Project snapshot: profile &amp; progress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13232" cy="50292"/>
          </a:xfrm>
          <a:prstGeom prst="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868680"/>
            <a:ext cx="9692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D6C74"/>
                </a:solidFill>
                <a:latin typeface="Aptos"/>
              </a:defRPr>
            </a:pPr>
            <a:r>
              <a:t>Recent sessions and category changes support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84048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SCREENSHOTS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5D6C74"/>
                </a:solidFill>
                <a:latin typeface="Aptos"/>
              </a:defRPr>
            </a:pPr>
            <a:r>
              <a:t>THRIVE  •  Mental Wellness &amp; Support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" y="1197864"/>
            <a:ext cx="569671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hatsApp Image 2026-10-08 at 11.42.32 AM (5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479" y="1234440"/>
            <a:ext cx="4799321" cy="46634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318504" y="1197864"/>
            <a:ext cx="533095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hatsApp Image 2026-10-08 at 11.42.32 AM (4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00702"/>
            <a:ext cx="5257800" cy="45309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6053328"/>
            <a:ext cx="102412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1B695B"/>
                </a:solidFill>
                <a:latin typeface="Aptos"/>
              </a:defRPr>
            </a:pPr>
            <a:r>
              <a:t>Example: overall score moves from 28/40 to 25/40; category-level changes are displayed.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F2B39"/>
                </a:solidFill>
                <a:latin typeface="Aptos"/>
              </a:defRPr>
            </a:pPr>
            <a:r>
              <a:t>Testing &amp; observed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13232" cy="50292"/>
          </a:xfrm>
          <a:prstGeom prst="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868680"/>
            <a:ext cx="9692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D6C74"/>
                </a:solidFill>
                <a:latin typeface="Aptos"/>
              </a:defRPr>
            </a:pPr>
            <a:r>
              <a:t>Functional checks performed during local project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84048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5D6C74"/>
                </a:solidFill>
                <a:latin typeface="Aptos"/>
              </a:defRPr>
            </a:pPr>
            <a:r>
              <a:t>THRIVE  •  Mental Wellness &amp; Support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98448"/>
            <a:ext cx="10744200" cy="566928"/>
          </a:xfrm>
          <a:prstGeom prst="roundRect">
            <a:avLst/>
          </a:prstGeom>
          <a:solidFill>
            <a:srgbClr val="FFFEFA"/>
          </a:solidFill>
          <a:ln>
            <a:solidFill>
              <a:srgbClr val="FFF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19"/>
            <a:ext cx="2057400" cy="2468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1F2B39"/>
                </a:solidFill>
                <a:latin typeface="Aptos"/>
              </a:defRPr>
            </a:pPr>
            <a:r>
              <a:t>Signup /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389888"/>
            <a:ext cx="5760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Account creation, credential check and token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1417319"/>
            <a:ext cx="2286000" cy="2468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1B695B"/>
                </a:solidFill>
                <a:latin typeface="Aptos"/>
              </a:defRPr>
            </a:pPr>
            <a:r>
              <a:t>Local functional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993391"/>
            <a:ext cx="10744200" cy="566928"/>
          </a:xfrm>
          <a:prstGeom prst="roundRect">
            <a:avLst/>
          </a:prstGeom>
          <a:solidFill>
            <a:srgbClr val="F1EFE5"/>
          </a:solidFill>
          <a:ln>
            <a:solidFill>
              <a:srgbClr val="F1E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12263"/>
            <a:ext cx="2057400" cy="2468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1F2B39"/>
                </a:solidFill>
                <a:latin typeface="Aptos"/>
              </a:defRPr>
            </a:pPr>
            <a:r>
              <a:t>Resource browsing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084831"/>
            <a:ext cx="5760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Listing, search and category filtering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112263"/>
            <a:ext cx="2286000" cy="2468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1B695B"/>
                </a:solidFill>
                <a:latin typeface="Aptos"/>
              </a:defRPr>
            </a:pPr>
            <a:r>
              <a:t>Local functional 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688336"/>
            <a:ext cx="10744200" cy="566928"/>
          </a:xfrm>
          <a:prstGeom prst="roundRect">
            <a:avLst/>
          </a:prstGeom>
          <a:solidFill>
            <a:srgbClr val="FFFEFA"/>
          </a:solidFill>
          <a:ln>
            <a:solidFill>
              <a:srgbClr val="FFF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07208"/>
            <a:ext cx="2057400" cy="2468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1F2B39"/>
                </a:solidFill>
                <a:latin typeface="Aptos"/>
              </a:defRPr>
            </a:pPr>
            <a:r>
              <a:t>Check-in scoring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779776"/>
            <a:ext cx="5760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Category totals and top areas displayed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807208"/>
            <a:ext cx="2286000" cy="2468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1B695B"/>
                </a:solidFill>
                <a:latin typeface="Aptos"/>
              </a:defRPr>
            </a:pPr>
            <a:r>
              <a:t>Local functional 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83280"/>
            <a:ext cx="10744200" cy="566928"/>
          </a:xfrm>
          <a:prstGeom prst="roundRect">
            <a:avLst/>
          </a:prstGeom>
          <a:solidFill>
            <a:srgbClr val="F1EFE5"/>
          </a:solidFill>
          <a:ln>
            <a:solidFill>
              <a:srgbClr val="F1E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502152"/>
            <a:ext cx="2057400" cy="2468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1F2B39"/>
                </a:solidFill>
                <a:latin typeface="Aptos"/>
              </a:defRPr>
            </a:pPr>
            <a:r>
              <a:t>Profile 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474720"/>
            <a:ext cx="5760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Latest and previous sessions compared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502152"/>
            <a:ext cx="2286000" cy="2468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1B695B"/>
                </a:solidFill>
                <a:latin typeface="Aptos"/>
              </a:defRPr>
            </a:pPr>
            <a:r>
              <a:t>Local functional 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078224"/>
            <a:ext cx="10744200" cy="566928"/>
          </a:xfrm>
          <a:prstGeom prst="roundRect">
            <a:avLst/>
          </a:prstGeom>
          <a:solidFill>
            <a:srgbClr val="FFFEFA"/>
          </a:solidFill>
          <a:ln>
            <a:solidFill>
              <a:srgbClr val="FFF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97096"/>
            <a:ext cx="2057400" cy="2468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1F2B39"/>
                </a:solidFill>
                <a:latin typeface="Aptos"/>
              </a:defRPr>
            </a:pPr>
            <a:r>
              <a:t>Support request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169663"/>
            <a:ext cx="5760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Form validation and request 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4197096"/>
            <a:ext cx="2286000" cy="2468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1B695B"/>
                </a:solidFill>
                <a:latin typeface="Aptos"/>
              </a:defRPr>
            </a:pPr>
            <a:r>
              <a:t>Local functional test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773168"/>
            <a:ext cx="10744200" cy="566928"/>
          </a:xfrm>
          <a:prstGeom prst="roundRect">
            <a:avLst/>
          </a:prstGeom>
          <a:solidFill>
            <a:srgbClr val="F1EFE5"/>
          </a:solidFill>
          <a:ln>
            <a:solidFill>
              <a:srgbClr val="F1E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892040"/>
            <a:ext cx="2057400" cy="2468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1F2B39"/>
                </a:solidFill>
                <a:latin typeface="Aptos"/>
              </a:defRPr>
            </a:pPr>
            <a:r>
              <a:t>Production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4864607"/>
            <a:ext cx="5760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Deployment, penetration and formal usability studies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4892040"/>
            <a:ext cx="2286000" cy="2468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1000" b="1" i="0">
                <a:solidFill>
                  <a:srgbClr val="BA5951"/>
                </a:solidFill>
                <a:latin typeface="Aptos"/>
              </a:defRPr>
            </a:pPr>
            <a:r>
              <a:t>Not claimed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15000"/>
            <a:ext cx="102412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 i="0">
                <a:solidFill>
                  <a:srgbClr val="BA5951"/>
                </a:solidFill>
                <a:latin typeface="Aptos"/>
              </a:defRPr>
            </a:pPr>
            <a:r>
              <a:t>Implementation-level outcomes are not evidence of clinical effectiveness.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F2B39"/>
                </a:solidFill>
                <a:latin typeface="Aptos"/>
              </a:defRPr>
            </a:pPr>
            <a:r>
              <a:t>Limitations, security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13232" cy="50292"/>
          </a:xfrm>
          <a:prstGeom prst="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868680"/>
            <a:ext cx="9692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D6C74"/>
                </a:solidFill>
                <a:latin typeface="Aptos"/>
              </a:defRPr>
            </a:pPr>
            <a:r>
              <a:t>Honest scope is essential for a wellbeing-related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84048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5D6C74"/>
                </a:solidFill>
                <a:latin typeface="Aptos"/>
              </a:defRPr>
            </a:pPr>
            <a:r>
              <a:t>THRIVE  •  Mental Wellness &amp; Support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13716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82296" cy="1371600"/>
          </a:xfrm>
          <a:prstGeom prst="roundRect">
            <a:avLst/>
          </a:prstGeom>
          <a:solidFill>
            <a:srgbClr val="BA5951"/>
          </a:solidFill>
          <a:ln>
            <a:solidFill>
              <a:srgbClr val="BA59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472184"/>
            <a:ext cx="48463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Secrets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920240"/>
            <a:ext cx="4828032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Current source includes a fallback JWT secret and local DB credentials; move secrets to environment variables.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212080" cy="13716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82296" cy="1371600"/>
          </a:xfrm>
          <a:prstGeom prst="roundRect">
            <a:avLst/>
          </a:prstGeom>
          <a:solidFill>
            <a:srgbClr val="DDB36C"/>
          </a:solidFill>
          <a:ln>
            <a:solidFill>
              <a:srgbClr val="DDB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472184"/>
            <a:ext cx="48463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Endpoint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920240"/>
            <a:ext cx="4828032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Some check-in and support-list endpoints are not protected by authentication.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71800"/>
            <a:ext cx="5212080" cy="13716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2971800"/>
            <a:ext cx="82296" cy="1371600"/>
          </a:xfrm>
          <a:prstGeom prst="round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118104"/>
            <a:ext cx="48463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Access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3566160"/>
            <a:ext cx="4828032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Resource write endpoints require login but do not have a separate admin role.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971800"/>
            <a:ext cx="5212080" cy="137160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2971800"/>
            <a:ext cx="82296" cy="1371600"/>
          </a:xfrm>
          <a:prstGeom prst="roundRect">
            <a:avLst/>
          </a:prstGeom>
          <a:solidFill>
            <a:srgbClr val="C2DECF"/>
          </a:solidFill>
          <a:ln>
            <a:solidFill>
              <a:srgbClr val="C2D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118104"/>
            <a:ext cx="48463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F2B39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3566160"/>
            <a:ext cx="4828032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D6C74"/>
                </a:solidFill>
                <a:latin typeface="Aptos"/>
              </a:defRPr>
            </a:pPr>
            <a:r>
              <a:t>Automated tests, case-sensitive build checks, deployment review, accessibility and consent-based usability evaluation.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300" b="1" i="0">
                <a:solidFill>
                  <a:srgbClr val="BA5951"/>
                </a:solidFill>
                <a:latin typeface="Aptos"/>
              </a:defRPr>
            </a:pPr>
            <a:r>
              <a:t>THRIVE is an educational self-reflection tool—not diagnosis, emergency care or a substitute for a qualified professional.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1F2B39"/>
                </a:solidFill>
                <a:latin typeface="Aptos"/>
              </a:defRPr>
            </a:pPr>
            <a:r>
              <a:t>Demo video: end-to-end walkthrough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713232" cy="50292"/>
          </a:xfrm>
          <a:prstGeom prst="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868680"/>
            <a:ext cx="9692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5D6C74"/>
                </a:solidFill>
                <a:latin typeface="Aptos"/>
              </a:defRPr>
            </a:pPr>
            <a:r>
              <a:t>Show the provided demo during the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84048"/>
            <a:ext cx="13716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5D6C74"/>
                </a:solidFill>
                <a:latin typeface="Aptos"/>
              </a:defRPr>
            </a:pPr>
            <a:r>
              <a:t>THRIVE  •  Mental Wellness &amp; Support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6583680" cy="443484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3544" y="1472184"/>
            <a:ext cx="6199632" cy="3456432"/>
          </a:xfrm>
          <a:prstGeom prst="roundRect">
            <a:avLst/>
          </a:prstGeom>
          <a:solidFill>
            <a:srgbClr val="FFFFFF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hatsApp Image 2026-10-08 at 11.42.31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553908"/>
            <a:ext cx="6126480" cy="3292983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3566160" y="2606040"/>
            <a:ext cx="822960" cy="822960"/>
          </a:xfrm>
          <a:prstGeom prst="ellipse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761488"/>
            <a:ext cx="548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074920"/>
            <a:ext cx="59436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100" b="0" i="0">
                <a:solidFill>
                  <a:srgbClr val="5D6C74"/>
                </a:solidFill>
                <a:latin typeface="Aptos"/>
              </a:defRPr>
            </a:pPr>
            <a:r>
              <a:t>Demo sequence: Home → login/signup → check-in → results → profile → resources/support</a:t>
            </a:r>
          </a:p>
        </p:txBody>
      </p:sp>
      <p:pic>
        <p:nvPicPr>
          <p:cNvPr id="14" name="WhatsApp Video 2026-10-10 at 11.57.48 AM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7772400" y="1508760"/>
            <a:ext cx="3429000" cy="25603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635240" y="4434840"/>
            <a:ext cx="3657600" cy="100584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35240" y="4434840"/>
            <a:ext cx="82296" cy="1005840"/>
          </a:xfrm>
          <a:prstGeom prst="round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4581144"/>
            <a:ext cx="32918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F2B39"/>
                </a:solidFill>
                <a:latin typeface="Aptos"/>
              </a:defRPr>
            </a:pPr>
            <a:r>
              <a:t>Video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5029200"/>
            <a:ext cx="3273552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5D6C74"/>
                </a:solidFill>
                <a:latin typeface="Aptos"/>
              </a:defRPr>
            </a:pPr>
            <a:r>
              <a:t>Provided demo video included with project materials.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2788920"/>
            <a:ext cx="34747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  <a:defRPr sz="1100" b="1" i="0">
                <a:solidFill>
                  <a:srgbClr val="1B695B"/>
                </a:solidFill>
                <a:latin typeface="Aptos"/>
              </a:defRPr>
            </a:pPr>
            <a:r>
              <a:t>Video embedded and playable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Box 5"/>
          <p:cNvSpPr txBox="1"/>
          <p:nvPr/>
        </p:nvSpPr>
        <p:spPr>
          <a:xfrm>
            <a:off x="594360" y="6547104"/>
            <a:ext cx="731520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0" i="0">
                <a:solidFill>
                  <a:srgbClr val="5D6C74"/>
                </a:solidFill>
                <a:latin typeface="Aptos"/>
              </a:defRPr>
            </a:pPr>
            <a:r>
              <a:t>THRIVE  •  Mental Wellness &amp; Support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1B695B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"/>
            <a:ext cx="10881360" cy="5120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700" b="1">
                <a:solidFill>
                  <a:srgbClr val="1F2B39"/>
                </a:solidFill>
                <a:latin typeface="Aptos"/>
              </a:defRPr>
            </a:pPr>
            <a:r>
              <a:t>Demo video: end-to-end walkthrough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932688"/>
            <a:ext cx="713232" cy="50292"/>
          </a:xfrm>
          <a:prstGeom prst="rect">
            <a:avLst/>
          </a:prstGeom>
          <a:solidFill>
            <a:srgbClr val="009184"/>
          </a:solidFill>
          <a:ln>
            <a:solidFill>
              <a:srgbClr val="0091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868680"/>
            <a:ext cx="969264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5D6C74"/>
                </a:solidFill>
                <a:latin typeface="Aptos"/>
              </a:defRPr>
            </a:pPr>
            <a:r>
              <a:t>Click the video during Slide Show mode. Some preview apps do not play embedded media.</a:t>
            </a:r>
          </a:p>
        </p:txBody>
      </p:sp>
      <p:pic>
        <p:nvPicPr>
          <p:cNvPr id="11" name="THRIVE_Demo_Video_Compatibl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7240" y="1325880"/>
            <a:ext cx="7589520" cy="4343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732520" y="1508760"/>
            <a:ext cx="2560320" cy="3566160"/>
          </a:xfrm>
          <a:prstGeom prst="roundRect">
            <a:avLst/>
          </a:prstGeom>
          <a:solidFill>
            <a:srgbClr val="FFFEFA"/>
          </a:solidFill>
          <a:ln>
            <a:solidFill>
              <a:srgbClr val="E2E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783080"/>
            <a:ext cx="210312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700" b="1">
                <a:solidFill>
                  <a:srgbClr val="1F2B39"/>
                </a:solidFill>
                <a:latin typeface="Aptos"/>
              </a:defRPr>
            </a:pPr>
            <a:r>
              <a:t>If it doesn't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331720"/>
            <a:ext cx="2057400" cy="1920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5D6C74"/>
                </a:solidFill>
                <a:latin typeface="Aptos"/>
              </a:defRPr>
            </a:pPr>
            <a:r>
              <a:t>1. Download/open the separate MP4.</a:t>
            </a:r>
          </a:p>
          <a:p>
            <a:pPr algn="l">
              <a:defRPr sz="1300" b="0">
                <a:solidFill>
                  <a:srgbClr val="5D6C74"/>
                </a:solidFill>
                <a:latin typeface="Aptos"/>
              </a:defRPr>
            </a:pPr>
          </a:p>
          <a:p>
            <a:pPr algn="l">
              <a:defRPr sz="1300" b="0">
                <a:solidFill>
                  <a:srgbClr val="5D6C74"/>
                </a:solidFill>
                <a:latin typeface="Aptos"/>
              </a:defRPr>
            </a:pPr>
            <a:r>
              <a:t>2. Open this deck in desktop PowerPoint.</a:t>
            </a:r>
          </a:p>
          <a:p>
            <a:pPr algn="l">
              <a:defRPr sz="1300" b="0">
                <a:solidFill>
                  <a:srgbClr val="5D6C74"/>
                </a:solidFill>
                <a:latin typeface="Aptos"/>
              </a:defRPr>
            </a:pPr>
          </a:p>
          <a:p>
            <a:pPr algn="l">
              <a:defRPr sz="1300" b="0">
                <a:solidFill>
                  <a:srgbClr val="5D6C74"/>
                </a:solidFill>
                <a:latin typeface="Aptos"/>
              </a:defRPr>
            </a:pPr>
            <a:r>
              <a:t>3. Start Slide Show and click the video.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4434840"/>
            <a:ext cx="21031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1B695B"/>
                </a:solidFill>
                <a:latin typeface="Aptos"/>
              </a:defRPr>
            </a:pPr>
            <a:r>
              <a:t>Demo sequence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4754880"/>
            <a:ext cx="201168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5D6C74"/>
                </a:solidFill>
                <a:latin typeface="Aptos"/>
              </a:defRPr>
            </a:pPr>
            <a:r>
              <a:t>Home → login/signup → check-in → results → profile → resources/support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